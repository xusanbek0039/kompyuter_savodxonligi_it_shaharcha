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A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99855" y="-1828800"/>
            <a:ext cx="4754880" cy="4754880"/>
          </a:xfrm>
          <a:prstGeom prst="ellipse">
            <a:avLst/>
          </a:prstGeom>
          <a:solidFill>
            <a:srgbClr val="16205A"/>
          </a:solidFill>
          <a:ln/>
        </p:spPr>
      </p:sp>
      <p:sp>
        <p:nvSpPr>
          <p:cNvPr id="3" name="Shape 1"/>
          <p:cNvSpPr/>
          <p:nvPr/>
        </p:nvSpPr>
        <p:spPr>
          <a:xfrm>
            <a:off x="-1463040" y="4846320"/>
            <a:ext cx="3291840" cy="3291840"/>
          </a:xfrm>
          <a:prstGeom prst="ellipse">
            <a:avLst/>
          </a:prstGeom>
          <a:solidFill>
            <a:srgbClr val="16205A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640080"/>
            <a:ext cx="27432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pic>
        <p:nvPicPr>
          <p:cNvPr id="5" name="Image 0" descr="/sessions/ecstatic-admiring-tesla/mnt/outputs/assets/log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60120" y="868680"/>
            <a:ext cx="2377440" cy="9144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2651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1FA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23-DARS  •  2 SOAT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777240" y="3063240"/>
            <a:ext cx="1060704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Slayd maketi, dizayni, o'tish (Transition) sozlamalari bilan ishlash</a:t>
            </a:r>
            <a:endParaRPr lang="en-US" sz="3400" dirty="0"/>
          </a:p>
        </p:txBody>
      </p:sp>
      <p:sp>
        <p:nvSpPr>
          <p:cNvPr id="8" name="Shape 5"/>
          <p:cNvSpPr/>
          <p:nvPr/>
        </p:nvSpPr>
        <p:spPr>
          <a:xfrm>
            <a:off x="822960" y="5074920"/>
            <a:ext cx="146304" cy="146304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9" name="Shape 6"/>
          <p:cNvSpPr/>
          <p:nvPr/>
        </p:nvSpPr>
        <p:spPr>
          <a:xfrm>
            <a:off x="1060704" y="5074920"/>
            <a:ext cx="146304" cy="146304"/>
          </a:xfrm>
          <a:prstGeom prst="ellipse">
            <a:avLst/>
          </a:prstGeom>
          <a:solidFill>
            <a:srgbClr val="1FA8C9"/>
          </a:solidFill>
          <a:ln/>
        </p:spPr>
      </p:sp>
      <p:sp>
        <p:nvSpPr>
          <p:cNvPr id="10" name="Shape 7"/>
          <p:cNvSpPr/>
          <p:nvPr/>
        </p:nvSpPr>
        <p:spPr>
          <a:xfrm>
            <a:off x="1298448" y="5074920"/>
            <a:ext cx="146304" cy="146304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1" name="Shape 8"/>
          <p:cNvSpPr/>
          <p:nvPr/>
        </p:nvSpPr>
        <p:spPr>
          <a:xfrm>
            <a:off x="1536192" y="5074920"/>
            <a:ext cx="146304" cy="146304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12" name="Shape 9"/>
          <p:cNvSpPr/>
          <p:nvPr/>
        </p:nvSpPr>
        <p:spPr>
          <a:xfrm>
            <a:off x="1773936" y="5074920"/>
            <a:ext cx="146304" cy="146304"/>
          </a:xfrm>
          <a:prstGeom prst="ellipse">
            <a:avLst/>
          </a:prstGeom>
          <a:solidFill>
            <a:srgbClr val="6A2C91"/>
          </a:solidFill>
          <a:ln/>
        </p:spPr>
      </p:sp>
      <p:sp>
        <p:nvSpPr>
          <p:cNvPr id="13" name="Shape 10"/>
          <p:cNvSpPr/>
          <p:nvPr/>
        </p:nvSpPr>
        <p:spPr>
          <a:xfrm>
            <a:off x="2011680" y="5074920"/>
            <a:ext cx="146304" cy="146304"/>
          </a:xfrm>
          <a:prstGeom prst="ellipse">
            <a:avLst/>
          </a:prstGeom>
          <a:solidFill>
            <a:srgbClr val="F1C40F"/>
          </a:solidFill>
          <a:ln/>
        </p:spPr>
      </p:sp>
      <p:sp>
        <p:nvSpPr>
          <p:cNvPr id="14" name="Shape 11"/>
          <p:cNvSpPr/>
          <p:nvPr/>
        </p:nvSpPr>
        <p:spPr>
          <a:xfrm>
            <a:off x="2249424" y="5074920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5" name="Text 12"/>
          <p:cNvSpPr/>
          <p:nvPr/>
        </p:nvSpPr>
        <p:spPr>
          <a:xfrm>
            <a:off x="822960" y="5989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Kompyuter savodxonligi kursi   |   «IT Shaharcha»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46304" cy="457200"/>
          </a:xfrm>
          <a:prstGeom prst="roundRect">
            <a:avLst>
              <a:gd name="adj" fmla="val 43750"/>
            </a:avLst>
          </a:prstGeom>
          <a:solidFill>
            <a:srgbClr val="1FA8C9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Dars maqsadi va rejasi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5029200" cy="4480560"/>
          </a:xfrm>
          <a:prstGeom prst="roundRect">
            <a:avLst>
              <a:gd name="adj" fmla="val 2041"/>
            </a:avLst>
          </a:prstGeom>
          <a:solidFill>
            <a:srgbClr val="1F2A6E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554480"/>
            <a:ext cx="548640" cy="5486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63040" y="1572768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MAQSAD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777240" y="2286000"/>
            <a:ext cx="44348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E8E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Slayd maketi, dizayn mavzulari va o'tish effektlari (Transition) bilan tanishtirish; taqdimotni jozibali bezash ko'nikmasini shakllantirish.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5852160" y="128016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Dars rejasi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5852160" y="1874520"/>
            <a:ext cx="457200" cy="457200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10" name="Text 7"/>
          <p:cNvSpPr/>
          <p:nvPr/>
        </p:nvSpPr>
        <p:spPr>
          <a:xfrm>
            <a:off x="5852160" y="1874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6492240" y="1801368"/>
            <a:ext cx="5212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Slayd maketi</a:t>
            </a:r>
            <a:endParaRPr lang="en-US" sz="1450" dirty="0"/>
          </a:p>
        </p:txBody>
      </p:sp>
      <p:sp>
        <p:nvSpPr>
          <p:cNvPr id="12" name="Shape 9"/>
          <p:cNvSpPr/>
          <p:nvPr/>
        </p:nvSpPr>
        <p:spPr>
          <a:xfrm>
            <a:off x="5852160" y="2660904"/>
            <a:ext cx="457200" cy="457200"/>
          </a:xfrm>
          <a:prstGeom prst="ellipse">
            <a:avLst/>
          </a:prstGeom>
          <a:solidFill>
            <a:srgbClr val="1FA8C9"/>
          </a:solidFill>
          <a:ln/>
        </p:spPr>
      </p:sp>
      <p:sp>
        <p:nvSpPr>
          <p:cNvPr id="13" name="Text 10"/>
          <p:cNvSpPr/>
          <p:nvPr/>
        </p:nvSpPr>
        <p:spPr>
          <a:xfrm>
            <a:off x="5852160" y="266090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6492240" y="2587752"/>
            <a:ext cx="5212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Dizayn mavzulari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5852160" y="3447288"/>
            <a:ext cx="457200" cy="457200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6" name="Text 13"/>
          <p:cNvSpPr/>
          <p:nvPr/>
        </p:nvSpPr>
        <p:spPr>
          <a:xfrm>
            <a:off x="5852160" y="344728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6492240" y="3374136"/>
            <a:ext cx="5212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O'tish effektlari (Transition)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5852160" y="4233672"/>
            <a:ext cx="457200" cy="457200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19" name="Text 16"/>
          <p:cNvSpPr/>
          <p:nvPr/>
        </p:nvSpPr>
        <p:spPr>
          <a:xfrm>
            <a:off x="5852160" y="423367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6492240" y="4160520"/>
            <a:ext cx="5212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xil uslub</a:t>
            </a:r>
            <a:endParaRPr lang="en-US" sz="1450" dirty="0"/>
          </a:p>
        </p:txBody>
      </p:sp>
      <p:pic>
        <p:nvPicPr>
          <p:cNvPr id="21" name="Image 1" descr="/sessions/ecstatic-admiring-tesla/mnt/outputs/assets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291072"/>
            <a:ext cx="1051560" cy="493776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1645920" y="63276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Yoshlar Axborot Texnologiyalari Markazi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9814255" y="632764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23-dars  •  Maqsad va reja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46304" cy="457200"/>
          </a:xfrm>
          <a:prstGeom prst="roundRect">
            <a:avLst>
              <a:gd name="adj" fmla="val 43750"/>
            </a:avLst>
          </a:prstGeom>
          <a:solidFill>
            <a:srgbClr val="27AE6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Nazariy asoslar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600200"/>
            <a:ext cx="731520" cy="731520"/>
          </a:xfrm>
          <a:prstGeom prst="ellipse">
            <a:avLst/>
          </a:prstGeom>
          <a:solidFill>
            <a:srgbClr val="E91E8C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1764792"/>
            <a:ext cx="402336" cy="4023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31520" y="2404872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Maket (Layout)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31520" y="2770632"/>
            <a:ext cx="31363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Elementlar joylashuvi.</a:t>
            </a:r>
            <a:endParaRPr lang="en-US" sz="1080" dirty="0"/>
          </a:p>
        </p:txBody>
      </p:sp>
      <p:sp>
        <p:nvSpPr>
          <p:cNvPr id="9" name="Shape 6"/>
          <p:cNvSpPr/>
          <p:nvPr/>
        </p:nvSpPr>
        <p:spPr>
          <a:xfrm>
            <a:off x="4315968" y="1325880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90288" y="1600200"/>
            <a:ext cx="731520" cy="731520"/>
          </a:xfrm>
          <a:prstGeom prst="ellipse">
            <a:avLst/>
          </a:prstGeom>
          <a:solidFill>
            <a:srgbClr val="1FA8C9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764792"/>
            <a:ext cx="402336" cy="40233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590288" y="2404872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Dizayn mavzusi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4590288" y="2770632"/>
            <a:ext cx="31363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Yagona rang va shrift uslubi.</a:t>
            </a:r>
            <a:endParaRPr lang="en-US" sz="1080" dirty="0"/>
          </a:p>
        </p:txBody>
      </p:sp>
      <p:sp>
        <p:nvSpPr>
          <p:cNvPr id="14" name="Shape 10"/>
          <p:cNvSpPr/>
          <p:nvPr/>
        </p:nvSpPr>
        <p:spPr>
          <a:xfrm>
            <a:off x="8174736" y="1325880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449056" y="1600200"/>
            <a:ext cx="731520" cy="731520"/>
          </a:xfrm>
          <a:prstGeom prst="ellipse">
            <a:avLst/>
          </a:prstGeom>
          <a:solidFill>
            <a:srgbClr val="27AE60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3648" y="1764792"/>
            <a:ext cx="402336" cy="40233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449056" y="2404872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Transition</a:t>
            </a:r>
            <a:endParaRPr lang="en-US" sz="1450" dirty="0"/>
          </a:p>
        </p:txBody>
      </p:sp>
      <p:sp>
        <p:nvSpPr>
          <p:cNvPr id="18" name="Text 13"/>
          <p:cNvSpPr/>
          <p:nvPr/>
        </p:nvSpPr>
        <p:spPr>
          <a:xfrm>
            <a:off x="8449056" y="2770632"/>
            <a:ext cx="31363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Slaydlararo o'tish effekti.</a:t>
            </a:r>
            <a:endParaRPr lang="en-US" sz="1080" dirty="0"/>
          </a:p>
        </p:txBody>
      </p:sp>
      <p:sp>
        <p:nvSpPr>
          <p:cNvPr id="19" name="Shape 14"/>
          <p:cNvSpPr/>
          <p:nvPr/>
        </p:nvSpPr>
        <p:spPr>
          <a:xfrm>
            <a:off x="457200" y="3575304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731520" y="3849624"/>
            <a:ext cx="731520" cy="731520"/>
          </a:xfrm>
          <a:prstGeom prst="ellipse">
            <a:avLst/>
          </a:prstGeom>
          <a:solidFill>
            <a:srgbClr val="E67E22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6112" y="4014216"/>
            <a:ext cx="402336" cy="402336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31520" y="4654296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Bir xil uslub</a:t>
            </a:r>
            <a:endParaRPr lang="en-US" sz="1450" dirty="0"/>
          </a:p>
        </p:txBody>
      </p:sp>
      <p:sp>
        <p:nvSpPr>
          <p:cNvPr id="23" name="Text 17"/>
          <p:cNvSpPr/>
          <p:nvPr/>
        </p:nvSpPr>
        <p:spPr>
          <a:xfrm>
            <a:off x="731520" y="5020056"/>
            <a:ext cx="31363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Yaxlit, tartibli ko'rinish.</a:t>
            </a:r>
            <a:endParaRPr lang="en-US" sz="1080" dirty="0"/>
          </a:p>
        </p:txBody>
      </p:sp>
      <p:pic>
        <p:nvPicPr>
          <p:cNvPr id="24" name="Image 4" descr="/sessions/ecstatic-admiring-tesla/mnt/outputs/assets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6291072"/>
            <a:ext cx="1051560" cy="493776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1645920" y="63276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Yoshlar Axborot Texnologiyalari Markazi</a:t>
            </a:r>
            <a:endParaRPr lang="en-US" sz="900" dirty="0"/>
          </a:p>
        </p:txBody>
      </p:sp>
      <p:sp>
        <p:nvSpPr>
          <p:cNvPr id="26" name="Text 19"/>
          <p:cNvSpPr/>
          <p:nvPr/>
        </p:nvSpPr>
        <p:spPr>
          <a:xfrm>
            <a:off x="9814255" y="632764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23-dars  •  Nazariy asoslar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46304" cy="457200"/>
          </a:xfrm>
          <a:prstGeom prst="roundRect">
            <a:avLst>
              <a:gd name="adj" fmla="val 43750"/>
            </a:avLst>
          </a:prstGeom>
          <a:solidFill>
            <a:srgbClr val="6A2C91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Asosiy atamalar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11247120" cy="749808"/>
          </a:xfrm>
          <a:prstGeom prst="roundRect">
            <a:avLst>
              <a:gd name="adj" fmla="val 8537"/>
            </a:avLst>
          </a:prstGeom>
          <a:solidFill>
            <a:srgbClr val="F4F6FB"/>
          </a:solidFill>
          <a:ln/>
        </p:spPr>
      </p:sp>
      <p:sp>
        <p:nvSpPr>
          <p:cNvPr id="5" name="Shape 3"/>
          <p:cNvSpPr/>
          <p:nvPr/>
        </p:nvSpPr>
        <p:spPr>
          <a:xfrm>
            <a:off x="658368" y="1591056"/>
            <a:ext cx="310896" cy="310896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6" name="Text 4"/>
          <p:cNvSpPr/>
          <p:nvPr/>
        </p:nvSpPr>
        <p:spPr>
          <a:xfrm>
            <a:off x="1143000" y="1371600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Layout (maket)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4572000" y="1371600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Slayd elementlarining joylashuv shabloni.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2240280"/>
            <a:ext cx="11247120" cy="749808"/>
          </a:xfrm>
          <a:prstGeom prst="roundRect">
            <a:avLst>
              <a:gd name="adj" fmla="val 8537"/>
            </a:avLst>
          </a:prstGeom>
          <a:solidFill>
            <a:srgbClr val="F4F6F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2459736"/>
            <a:ext cx="310896" cy="310896"/>
          </a:xfrm>
          <a:prstGeom prst="ellipse">
            <a:avLst/>
          </a:prstGeom>
          <a:solidFill>
            <a:srgbClr val="1FA8C9"/>
          </a:solidFill>
          <a:ln/>
        </p:spPr>
      </p:sp>
      <p:sp>
        <p:nvSpPr>
          <p:cNvPr id="10" name="Text 8"/>
          <p:cNvSpPr/>
          <p:nvPr/>
        </p:nvSpPr>
        <p:spPr>
          <a:xfrm>
            <a:off x="1143000" y="2240280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Theme (mavzu)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0" y="2240280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Slaydlar uchun yagona dizayn uslubi.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57200" y="3108960"/>
            <a:ext cx="11247120" cy="749808"/>
          </a:xfrm>
          <a:prstGeom prst="roundRect">
            <a:avLst>
              <a:gd name="adj" fmla="val 8537"/>
            </a:avLst>
          </a:prstGeom>
          <a:solidFill>
            <a:srgbClr val="F4F6FB"/>
          </a:solidFill>
          <a:ln/>
        </p:spPr>
      </p:sp>
      <p:sp>
        <p:nvSpPr>
          <p:cNvPr id="13" name="Shape 11"/>
          <p:cNvSpPr/>
          <p:nvPr/>
        </p:nvSpPr>
        <p:spPr>
          <a:xfrm>
            <a:off x="658368" y="3328416"/>
            <a:ext cx="310896" cy="310896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4" name="Text 12"/>
          <p:cNvSpPr/>
          <p:nvPr/>
        </p:nvSpPr>
        <p:spPr>
          <a:xfrm>
            <a:off x="1143000" y="3108960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Transition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572000" y="3108960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Slaydlararo o'tish animatsiyasi.</a:t>
            </a:r>
            <a:endParaRPr lang="en-US" sz="1250" dirty="0"/>
          </a:p>
        </p:txBody>
      </p:sp>
      <p:pic>
        <p:nvPicPr>
          <p:cNvPr id="16" name="Image 0" descr="/sessions/ecstatic-admiring-tesla/mnt/outputs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291072"/>
            <a:ext cx="1051560" cy="493776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1645920" y="63276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Yoshlar Axborot Texnologiyalari Markazi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9814255" y="632764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23-dars  •  Atamalar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F2A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65615" y="4114800"/>
            <a:ext cx="4206240" cy="4206240"/>
          </a:xfrm>
          <a:prstGeom prst="ellipse">
            <a:avLst/>
          </a:prstGeom>
          <a:solidFill>
            <a:srgbClr val="16205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57200"/>
            <a:ext cx="566928" cy="56692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88720" y="41148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Amaliy topshiriq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502920" y="1207008"/>
            <a:ext cx="11155680" cy="841248"/>
          </a:xfrm>
          <a:prstGeom prst="roundRect">
            <a:avLst>
              <a:gd name="adj" fmla="val 8696"/>
            </a:avLst>
          </a:prstGeom>
          <a:solidFill>
            <a:srgbClr val="1FA8C9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243584"/>
            <a:ext cx="1060704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"Taqdimotimni bezayman"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40080" y="2331720"/>
            <a:ext cx="438912" cy="438912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233172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261872" y="225856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22-darsda tayyorlagan PowerPoint taqdimotingni och.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40080" y="3063240"/>
            <a:ext cx="438912" cy="438912"/>
          </a:xfrm>
          <a:prstGeom prst="ellipse">
            <a:avLst/>
          </a:prstGeom>
          <a:solidFill>
            <a:srgbClr val="1FA8C9"/>
          </a:solidFill>
          <a:ln/>
        </p:spPr>
      </p:sp>
      <p:sp>
        <p:nvSpPr>
          <p:cNvPr id="11" name="Text 8"/>
          <p:cNvSpPr/>
          <p:nvPr/>
        </p:nvSpPr>
        <p:spPr>
          <a:xfrm>
            <a:off x="640080" y="306324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261872" y="299008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 bir slaydga mos maket (Layout) tanla.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640080" y="3794760"/>
            <a:ext cx="438912" cy="438912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4" name="Text 11"/>
          <p:cNvSpPr/>
          <p:nvPr/>
        </p:nvSpPr>
        <p:spPr>
          <a:xfrm>
            <a:off x="640080" y="379476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1261872" y="372160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Butun taqdimotga yagona dizayn mavzusini (Theme) qo'lla.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640080" y="4526280"/>
            <a:ext cx="438912" cy="438912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17" name="Text 14"/>
          <p:cNvSpPr/>
          <p:nvPr/>
        </p:nvSpPr>
        <p:spPr>
          <a:xfrm>
            <a:off x="640080" y="452628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1261872" y="445312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Slaydlararo o'tish (Transition) effektini sozla.</a:t>
            </a:r>
            <a:endParaRPr lang="en-US" sz="1350" dirty="0"/>
          </a:p>
        </p:txBody>
      </p:sp>
      <p:sp>
        <p:nvSpPr>
          <p:cNvPr id="19" name="Shape 16"/>
          <p:cNvSpPr/>
          <p:nvPr/>
        </p:nvSpPr>
        <p:spPr>
          <a:xfrm>
            <a:off x="640080" y="5257800"/>
            <a:ext cx="438912" cy="438912"/>
          </a:xfrm>
          <a:prstGeom prst="ellipse">
            <a:avLst/>
          </a:prstGeom>
          <a:solidFill>
            <a:srgbClr val="6A2C91"/>
          </a:solidFill>
          <a:ln/>
        </p:spPr>
      </p:sp>
      <p:sp>
        <p:nvSpPr>
          <p:cNvPr id="20" name="Text 17"/>
          <p:cNvSpPr/>
          <p:nvPr/>
        </p:nvSpPr>
        <p:spPr>
          <a:xfrm>
            <a:off x="640080" y="525780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1261872" y="518464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Slides taqdimotingda ham yangi dizayn va o'tish effektlarini qo'llab saqla.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46304" cy="457200"/>
          </a:xfrm>
          <a:prstGeom prst="roundRect">
            <a:avLst>
              <a:gd name="adj" fmla="val 43750"/>
            </a:avLst>
          </a:prstGeom>
          <a:solidFill>
            <a:srgbClr val="E91E8C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Nazorat savollari va uyga vazifa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25880"/>
            <a:ext cx="457200" cy="457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51560" y="132588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Nazorat savollari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548640" y="196596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1005840" y="1947672"/>
            <a:ext cx="548640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Maket nima vazifani bajaradi?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269748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005840" y="2679192"/>
            <a:ext cx="548640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Dizayn mavzusi (Theme) nima beradi?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48640" y="342900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05840" y="3410712"/>
            <a:ext cx="548640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Transition nima?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548640" y="416052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005840" y="4142232"/>
            <a:ext cx="548640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 yagona uslub muhim?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6858000" y="1325880"/>
            <a:ext cx="4846320" cy="4160520"/>
          </a:xfrm>
          <a:prstGeom prst="roundRect">
            <a:avLst>
              <a:gd name="adj" fmla="val 2198"/>
            </a:avLst>
          </a:prstGeom>
          <a:solidFill>
            <a:srgbClr val="1F2A6E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8040" y="1645920"/>
            <a:ext cx="502920" cy="50292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772400" y="1645920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Uyga vazifa</a:t>
            </a:r>
            <a:endParaRPr lang="en-US" sz="1800" dirty="0"/>
          </a:p>
        </p:txBody>
      </p:sp>
      <p:sp>
        <p:nvSpPr>
          <p:cNvPr id="17" name="Text 13"/>
          <p:cNvSpPr/>
          <p:nvPr/>
        </p:nvSpPr>
        <p:spPr>
          <a:xfrm>
            <a:off x="7178040" y="2377440"/>
            <a:ext cx="42062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450" dirty="0">
                <a:solidFill>
                  <a:srgbClr val="E8E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taqdimotni uch xil dizayn mavzusida sinab ko'rib, qaysi biri chiroyliroq ekanini aniqlang.</a:t>
            </a:r>
            <a:endParaRPr lang="en-US" sz="1450" dirty="0"/>
          </a:p>
        </p:txBody>
      </p:sp>
      <p:pic>
        <p:nvPicPr>
          <p:cNvPr id="18" name="Image 2" descr="/sessions/ecstatic-admiring-tesla/mnt/outputs/assets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291072"/>
            <a:ext cx="1051560" cy="493776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645920" y="63276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Yoshlar Axborot Texnologiyalari Markazi</a:t>
            </a:r>
            <a:endParaRPr lang="en-US" sz="900" dirty="0"/>
          </a:p>
        </p:txBody>
      </p:sp>
      <p:sp>
        <p:nvSpPr>
          <p:cNvPr id="20" name="Text 15"/>
          <p:cNvSpPr/>
          <p:nvPr/>
        </p:nvSpPr>
        <p:spPr>
          <a:xfrm>
            <a:off x="9814255" y="632764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23-dars  •  Savollar va vazifa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23-dars: Slayd maketi, dizayni, o'tish (Transition) sozlamalari bilan ishlash</dc:title>
  <dc:subject>PptxGenJS Presentation</dc:subject>
  <dc:creator>IT Shaharcha</dc:creator>
  <cp:lastModifiedBy>IT Shaharcha</cp:lastModifiedBy>
  <cp:revision>1</cp:revision>
  <dcterms:created xsi:type="dcterms:W3CDTF">2026-06-16T17:15:19Z</dcterms:created>
  <dcterms:modified xsi:type="dcterms:W3CDTF">2026-06-16T17:15:19Z</dcterms:modified>
</cp:coreProperties>
</file>